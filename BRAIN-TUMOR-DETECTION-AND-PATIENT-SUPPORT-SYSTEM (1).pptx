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4630400" cy="8229600"/>
  <p:notesSz cx="8229600" cy="14630400"/>
  <p:embeddedFontLst>
    <p:embeddedFont>
      <p:font typeface="Barlow"/>
      <p:regular r:id="rId21"/>
    </p:embeddedFont>
    <p:embeddedFont>
      <p:font typeface="Barlow"/>
      <p:regular r:id="rId22"/>
    </p:embeddedFont>
    <p:embeddedFont>
      <p:font typeface="Barlow"/>
      <p:regular r:id="rId23"/>
    </p:embeddedFont>
    <p:embeddedFont>
      <p:font typeface="Barlow"/>
      <p:regular r:id="rId24"/>
    </p:embeddedFont>
    <p:embeddedFont>
      <p:font typeface="Montserrat"/>
      <p:regular r:id="rId25"/>
    </p:embeddedFont>
    <p:embeddedFont>
      <p:font typeface="Montserrat"/>
      <p:regular r:id="rId26"/>
    </p:embeddedFont>
    <p:embeddedFont>
      <p:font typeface="Montserrat"/>
      <p:regular r:id="rId27"/>
    </p:embeddedFont>
    <p:embeddedFont>
      <p:font typeface="Montserrat"/>
      <p:regular r:id="rId2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 Id="rId27" Type="http://schemas.openxmlformats.org/officeDocument/2006/relationships/font" Target="fonts/font7.fntdata"/><Relationship Id="rId28"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5-1.png"/><Relationship Id="rId2" Type="http://schemas.openxmlformats.org/officeDocument/2006/relationships/image" Target="../media/image-1015-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8309" y="1032867"/>
            <a:ext cx="13113782" cy="1425416"/>
          </a:xfrm>
          <a:prstGeom prst="rect">
            <a:avLst/>
          </a:prstGeom>
          <a:noFill/>
          <a:ln/>
        </p:spPr>
        <p:txBody>
          <a:bodyPr wrap="square" lIns="0" tIns="0" rIns="0" bIns="0" rtlCol="0" anchor="t"/>
          <a:lstStyle/>
          <a:p>
            <a:pPr algn="ct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BRAIN TUMOR DETECTION AND PATIENT SUPPORT SYSTEM</a:t>
            </a:r>
            <a:endParaRPr lang="en-US" sz="4450" dirty="0"/>
          </a:p>
        </p:txBody>
      </p:sp>
      <p:sp>
        <p:nvSpPr>
          <p:cNvPr id="3" name="Text 1"/>
          <p:cNvSpPr/>
          <p:nvPr/>
        </p:nvSpPr>
        <p:spPr>
          <a:xfrm>
            <a:off x="5220176" y="2783205"/>
            <a:ext cx="4190048" cy="356235"/>
          </a:xfrm>
          <a:prstGeom prst="rect">
            <a:avLst/>
          </a:prstGeom>
          <a:noFill/>
          <a:ln/>
        </p:spPr>
        <p:txBody>
          <a:bodyPr wrap="none" lIns="0" tIns="0" rIns="0" bIns="0" rtlCol="0" anchor="t"/>
          <a:lstStyle/>
          <a:p>
            <a:pPr algn="ct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Project Guide: Mr. MARISELVAN R</a:t>
            </a:r>
            <a:endParaRPr lang="en-US" sz="2200" dirty="0"/>
          </a:p>
        </p:txBody>
      </p:sp>
      <p:sp>
        <p:nvSpPr>
          <p:cNvPr id="4" name="Text 2"/>
          <p:cNvSpPr/>
          <p:nvPr/>
        </p:nvSpPr>
        <p:spPr>
          <a:xfrm>
            <a:off x="758309" y="3464362"/>
            <a:ext cx="13113782" cy="433388"/>
          </a:xfrm>
          <a:prstGeom prst="rect">
            <a:avLst/>
          </a:prstGeom>
          <a:noFill/>
          <a:ln/>
        </p:spPr>
        <p:txBody>
          <a:bodyPr wrap="none" lIns="0" tIns="0" rIns="0" bIns="0" rtlCol="0" anchor="t"/>
          <a:lstStyle/>
          <a:p>
            <a:pPr algn="ctr" indent="0" marL="0">
              <a:lnSpc>
                <a:spcPts val="3400"/>
              </a:lnSpc>
              <a:buNone/>
            </a:pPr>
            <a:r>
              <a:rPr lang="en-US" sz="2100" b="1" dirty="0">
                <a:solidFill>
                  <a:srgbClr val="272525"/>
                </a:solidFill>
                <a:latin typeface="Montserrat" pitchFamily="34" charset="0"/>
                <a:ea typeface="Montserrat" pitchFamily="34" charset="-122"/>
                <a:cs typeface="Montserrat" pitchFamily="34" charset="-120"/>
              </a:rPr>
              <a:t>TEAM MEMBERS: </a:t>
            </a:r>
            <a:endParaRPr lang="en-US" sz="2100" dirty="0"/>
          </a:p>
        </p:txBody>
      </p:sp>
      <p:sp>
        <p:nvSpPr>
          <p:cNvPr id="5" name="Text 3"/>
          <p:cNvSpPr/>
          <p:nvPr/>
        </p:nvSpPr>
        <p:spPr>
          <a:xfrm>
            <a:off x="758309" y="4141470"/>
            <a:ext cx="13113782" cy="433388"/>
          </a:xfrm>
          <a:prstGeom prst="rect">
            <a:avLst/>
          </a:prstGeom>
          <a:noFill/>
          <a:ln/>
        </p:spPr>
        <p:txBody>
          <a:bodyPr wrap="none" lIns="0" tIns="0" rIns="0" bIns="0" rtlCol="0" anchor="t"/>
          <a:lstStyle/>
          <a:p>
            <a:pPr algn="ctr" indent="0" marL="0">
              <a:lnSpc>
                <a:spcPts val="3400"/>
              </a:lnSpc>
              <a:buNone/>
            </a:pPr>
            <a:r>
              <a:rPr lang="en-US" sz="2100" dirty="0">
                <a:solidFill>
                  <a:srgbClr val="272525"/>
                </a:solidFill>
                <a:latin typeface="Montserrat" pitchFamily="34" charset="0"/>
                <a:ea typeface="Montserrat" pitchFamily="34" charset="-122"/>
                <a:cs typeface="Montserrat" pitchFamily="34" charset="-120"/>
              </a:rPr>
              <a:t>B.NAVANEETHAKRISHNA(9921004501)</a:t>
            </a:r>
            <a:endParaRPr lang="en-US" sz="2100" dirty="0"/>
          </a:p>
        </p:txBody>
      </p:sp>
      <p:sp>
        <p:nvSpPr>
          <p:cNvPr id="6" name="Text 4"/>
          <p:cNvSpPr/>
          <p:nvPr/>
        </p:nvSpPr>
        <p:spPr>
          <a:xfrm>
            <a:off x="758309" y="4818578"/>
            <a:ext cx="13113782" cy="433388"/>
          </a:xfrm>
          <a:prstGeom prst="rect">
            <a:avLst/>
          </a:prstGeom>
          <a:noFill/>
          <a:ln/>
        </p:spPr>
        <p:txBody>
          <a:bodyPr wrap="none" lIns="0" tIns="0" rIns="0" bIns="0" rtlCol="0" anchor="t"/>
          <a:lstStyle/>
          <a:p>
            <a:pPr algn="ctr" indent="0" marL="0">
              <a:lnSpc>
                <a:spcPts val="3400"/>
              </a:lnSpc>
              <a:buNone/>
            </a:pPr>
            <a:r>
              <a:rPr lang="en-US" sz="2100" dirty="0">
                <a:solidFill>
                  <a:srgbClr val="272525"/>
                </a:solidFill>
                <a:latin typeface="Montserrat" pitchFamily="34" charset="0"/>
                <a:ea typeface="Montserrat" pitchFamily="34" charset="-122"/>
                <a:cs typeface="Montserrat" pitchFamily="34" charset="-120"/>
              </a:rPr>
              <a:t> B.ARAVIND KUMAR(9921004037) </a:t>
            </a:r>
            <a:endParaRPr lang="en-US" sz="2100" dirty="0"/>
          </a:p>
        </p:txBody>
      </p:sp>
      <p:sp>
        <p:nvSpPr>
          <p:cNvPr id="7" name="Text 5"/>
          <p:cNvSpPr/>
          <p:nvPr/>
        </p:nvSpPr>
        <p:spPr>
          <a:xfrm>
            <a:off x="758309" y="5495687"/>
            <a:ext cx="13113782" cy="433388"/>
          </a:xfrm>
          <a:prstGeom prst="rect">
            <a:avLst/>
          </a:prstGeom>
          <a:noFill/>
          <a:ln/>
        </p:spPr>
        <p:txBody>
          <a:bodyPr wrap="none" lIns="0" tIns="0" rIns="0" bIns="0" rtlCol="0" anchor="t"/>
          <a:lstStyle/>
          <a:p>
            <a:pPr algn="ctr" indent="0" marL="0">
              <a:lnSpc>
                <a:spcPts val="3400"/>
              </a:lnSpc>
              <a:buNone/>
            </a:pPr>
            <a:r>
              <a:rPr lang="en-US" sz="2100" dirty="0">
                <a:solidFill>
                  <a:srgbClr val="272525"/>
                </a:solidFill>
                <a:latin typeface="Montserrat" pitchFamily="34" charset="0"/>
                <a:ea typeface="Montserrat" pitchFamily="34" charset="-122"/>
                <a:cs typeface="Montserrat" pitchFamily="34" charset="-120"/>
              </a:rPr>
              <a:t>A.VENKATRAMAN(99210041826) </a:t>
            </a:r>
            <a:endParaRPr lang="en-US" sz="2100" dirty="0"/>
          </a:p>
        </p:txBody>
      </p:sp>
      <p:sp>
        <p:nvSpPr>
          <p:cNvPr id="8" name="Text 6"/>
          <p:cNvSpPr/>
          <p:nvPr/>
        </p:nvSpPr>
        <p:spPr>
          <a:xfrm>
            <a:off x="758309" y="6172795"/>
            <a:ext cx="13113782" cy="433388"/>
          </a:xfrm>
          <a:prstGeom prst="rect">
            <a:avLst/>
          </a:prstGeom>
          <a:noFill/>
          <a:ln/>
        </p:spPr>
        <p:txBody>
          <a:bodyPr wrap="none" lIns="0" tIns="0" rIns="0" bIns="0" rtlCol="0" anchor="t"/>
          <a:lstStyle/>
          <a:p>
            <a:pPr algn="ctr" indent="0" marL="0">
              <a:lnSpc>
                <a:spcPts val="3400"/>
              </a:lnSpc>
              <a:buNone/>
            </a:pPr>
            <a:r>
              <a:rPr lang="en-US" sz="2100" dirty="0">
                <a:solidFill>
                  <a:srgbClr val="272525"/>
                </a:solidFill>
                <a:latin typeface="Montserrat" pitchFamily="34" charset="0"/>
                <a:ea typeface="Montserrat" pitchFamily="34" charset="-122"/>
                <a:cs typeface="Montserrat" pitchFamily="34" charset="-120"/>
              </a:rPr>
              <a:t>S.SANJAY(99210042079)</a:t>
            </a:r>
            <a:endParaRPr lang="en-US" sz="2100" dirty="0"/>
          </a:p>
        </p:txBody>
      </p:sp>
      <p:sp>
        <p:nvSpPr>
          <p:cNvPr id="9" name="Text 7"/>
          <p:cNvSpPr/>
          <p:nvPr/>
        </p:nvSpPr>
        <p:spPr>
          <a:xfrm>
            <a:off x="758309" y="6849904"/>
            <a:ext cx="13113782" cy="346710"/>
          </a:xfrm>
          <a:prstGeom prst="rect">
            <a:avLst/>
          </a:prstGeom>
          <a:noFill/>
          <a:ln/>
        </p:spPr>
        <p:txBody>
          <a:bodyPr wrap="none" lIns="0" tIns="0" rIns="0" bIns="0" rtlCol="0" anchor="t"/>
          <a:lstStyle/>
          <a:p>
            <a:pPr algn="l" indent="0" marL="0">
              <a:lnSpc>
                <a:spcPts val="2700"/>
              </a:lnSpc>
              <a:buNone/>
            </a:pP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2026087"/>
            <a:ext cx="7627382" cy="1425416"/>
          </a:xfrm>
          <a:prstGeom prst="rect">
            <a:avLst/>
          </a:prstGeom>
          <a:noFill/>
          <a:ln/>
        </p:spPr>
        <p:txBody>
          <a:bodyPr wrap="squar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Tumor Diagnosis and Support System</a:t>
            </a:r>
            <a:endParaRPr lang="en-US" sz="4450" dirty="0"/>
          </a:p>
        </p:txBody>
      </p:sp>
      <p:sp>
        <p:nvSpPr>
          <p:cNvPr id="4" name="Text 1"/>
          <p:cNvSpPr/>
          <p:nvPr/>
        </p:nvSpPr>
        <p:spPr>
          <a:xfrm>
            <a:off x="758309" y="3776424"/>
            <a:ext cx="7627382" cy="242697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Our project is dedicated to developing a web-based interface that provides patients with enhanced tumor diagnosis using a CNN-based tumor detection system. The interface identifies tumors and classifies their types, offering financial support options to ensure the overall well-being of patients. We also deploy a system for detecting brain tumors and classifying their types using MRI images uploaded by patients.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1769150"/>
            <a:ext cx="5701546"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Problem Statement</a:t>
            </a:r>
            <a:endParaRPr lang="en-US" sz="4450" dirty="0"/>
          </a:p>
        </p:txBody>
      </p:sp>
      <p:sp>
        <p:nvSpPr>
          <p:cNvPr id="3" name="Shape 1"/>
          <p:cNvSpPr/>
          <p:nvPr/>
        </p:nvSpPr>
        <p:spPr>
          <a:xfrm>
            <a:off x="758309" y="3050500"/>
            <a:ext cx="487442" cy="487442"/>
          </a:xfrm>
          <a:prstGeom prst="roundRect">
            <a:avLst>
              <a:gd name="adj" fmla="val 40004"/>
            </a:avLst>
          </a:prstGeom>
          <a:solidFill>
            <a:srgbClr val="EEEFF5"/>
          </a:solidFill>
          <a:ln/>
          <a:effectLst>
            <a:outerShdw sx="100000" sy="100000" kx="0" ky="0" algn="bl" rotWithShape="0" blurRad="53340" dist="26670" dir="13500000">
              <a:srgbClr val="ffffff">
                <a:alpha val="70000"/>
              </a:srgbClr>
            </a:outerShdw>
          </a:effectLst>
        </p:spPr>
      </p:sp>
      <p:pic>
        <p:nvPicPr>
          <p:cNvPr id="4" name="Image 0" descr="preencoded.png">    </p:cNvPr>
          <p:cNvPicPr>
            <a:picLocks noChangeAspect="1"/>
          </p:cNvPicPr>
          <p:nvPr/>
        </p:nvPicPr>
        <p:blipFill>
          <a:blip r:embed="rId1"/>
          <a:stretch>
            <a:fillRect/>
          </a:stretch>
        </p:blipFill>
        <p:spPr>
          <a:xfrm>
            <a:off x="830997" y="3080445"/>
            <a:ext cx="342067" cy="427553"/>
          </a:xfrm>
          <a:prstGeom prst="rect">
            <a:avLst/>
          </a:prstGeom>
        </p:spPr>
      </p:pic>
      <p:sp>
        <p:nvSpPr>
          <p:cNvPr id="5" name="Text 2"/>
          <p:cNvSpPr/>
          <p:nvPr/>
        </p:nvSpPr>
        <p:spPr>
          <a:xfrm>
            <a:off x="1462326" y="3050500"/>
            <a:ext cx="3297912"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Time-Consuming Methods</a:t>
            </a:r>
            <a:endParaRPr lang="en-US" sz="2200" dirty="0"/>
          </a:p>
        </p:txBody>
      </p:sp>
      <p:sp>
        <p:nvSpPr>
          <p:cNvPr id="6" name="Text 3"/>
          <p:cNvSpPr/>
          <p:nvPr/>
        </p:nvSpPr>
        <p:spPr>
          <a:xfrm>
            <a:off x="1462326" y="3536633"/>
            <a:ext cx="5744647"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Conventional diagnostic processes can be lengthy.</a:t>
            </a:r>
            <a:endParaRPr lang="en-US" sz="1700" dirty="0"/>
          </a:p>
        </p:txBody>
      </p:sp>
      <p:sp>
        <p:nvSpPr>
          <p:cNvPr id="7" name="Shape 4"/>
          <p:cNvSpPr/>
          <p:nvPr/>
        </p:nvSpPr>
        <p:spPr>
          <a:xfrm>
            <a:off x="7423547" y="3050500"/>
            <a:ext cx="487442" cy="487442"/>
          </a:xfrm>
          <a:prstGeom prst="roundRect">
            <a:avLst>
              <a:gd name="adj" fmla="val 40004"/>
            </a:avLst>
          </a:prstGeom>
          <a:solidFill>
            <a:srgbClr val="EEEFF5"/>
          </a:solidFill>
          <a:ln/>
          <a:effectLst>
            <a:outerShdw sx="100000" sy="100000" kx="0" ky="0" algn="bl" rotWithShape="0" blurRad="53340" dist="26670" dir="13500000">
              <a:srgbClr val="ffffff">
                <a:alpha val="70000"/>
              </a:srgbClr>
            </a:outerShdw>
          </a:effectLst>
        </p:spPr>
      </p:sp>
      <p:pic>
        <p:nvPicPr>
          <p:cNvPr id="8" name="Image 1" descr="preencoded.png">    </p:cNvPr>
          <p:cNvPicPr>
            <a:picLocks noChangeAspect="1"/>
          </p:cNvPicPr>
          <p:nvPr/>
        </p:nvPicPr>
        <p:blipFill>
          <a:blip r:embed="rId2"/>
          <a:stretch>
            <a:fillRect/>
          </a:stretch>
        </p:blipFill>
        <p:spPr>
          <a:xfrm>
            <a:off x="7496235" y="3080445"/>
            <a:ext cx="342067" cy="427553"/>
          </a:xfrm>
          <a:prstGeom prst="rect">
            <a:avLst/>
          </a:prstGeom>
        </p:spPr>
      </p:pic>
      <p:sp>
        <p:nvSpPr>
          <p:cNvPr id="9" name="Text 5"/>
          <p:cNvSpPr/>
          <p:nvPr/>
        </p:nvSpPr>
        <p:spPr>
          <a:xfrm>
            <a:off x="8127563" y="3050500"/>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Expensive Procedures</a:t>
            </a:r>
            <a:endParaRPr lang="en-US" sz="2200" dirty="0"/>
          </a:p>
        </p:txBody>
      </p:sp>
      <p:sp>
        <p:nvSpPr>
          <p:cNvPr id="10" name="Text 6"/>
          <p:cNvSpPr/>
          <p:nvPr/>
        </p:nvSpPr>
        <p:spPr>
          <a:xfrm>
            <a:off x="8127563" y="3536633"/>
            <a:ext cx="5744647"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Traditional methods often involve high costs.</a:t>
            </a:r>
            <a:endParaRPr lang="en-US" sz="1700" dirty="0"/>
          </a:p>
        </p:txBody>
      </p:sp>
      <p:sp>
        <p:nvSpPr>
          <p:cNvPr id="11" name="Shape 7"/>
          <p:cNvSpPr/>
          <p:nvPr/>
        </p:nvSpPr>
        <p:spPr>
          <a:xfrm>
            <a:off x="758309" y="4343638"/>
            <a:ext cx="487442" cy="487442"/>
          </a:xfrm>
          <a:prstGeom prst="roundRect">
            <a:avLst>
              <a:gd name="adj" fmla="val 40004"/>
            </a:avLst>
          </a:prstGeom>
          <a:solidFill>
            <a:srgbClr val="EEEFF5"/>
          </a:solidFill>
          <a:ln/>
          <a:effectLst>
            <a:outerShdw sx="100000" sy="100000" kx="0" ky="0" algn="bl" rotWithShape="0" blurRad="53340" dist="26670" dir="13500000">
              <a:srgbClr val="ffffff">
                <a:alpha val="70000"/>
              </a:srgbClr>
            </a:outerShdw>
          </a:effectLst>
        </p:spPr>
      </p:sp>
      <p:pic>
        <p:nvPicPr>
          <p:cNvPr id="12" name="Image 2" descr="preencoded.png">    </p:cNvPr>
          <p:cNvPicPr>
            <a:picLocks noChangeAspect="1"/>
          </p:cNvPicPr>
          <p:nvPr/>
        </p:nvPicPr>
        <p:blipFill>
          <a:blip r:embed="rId3"/>
          <a:stretch>
            <a:fillRect/>
          </a:stretch>
        </p:blipFill>
        <p:spPr>
          <a:xfrm>
            <a:off x="830997" y="4373582"/>
            <a:ext cx="342067" cy="427553"/>
          </a:xfrm>
          <a:prstGeom prst="rect">
            <a:avLst/>
          </a:prstGeom>
        </p:spPr>
      </p:pic>
      <p:sp>
        <p:nvSpPr>
          <p:cNvPr id="13" name="Text 8"/>
          <p:cNvSpPr/>
          <p:nvPr/>
        </p:nvSpPr>
        <p:spPr>
          <a:xfrm>
            <a:off x="1462326" y="4343638"/>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Prone to Human Error</a:t>
            </a:r>
            <a:endParaRPr lang="en-US" sz="2200" dirty="0"/>
          </a:p>
        </p:txBody>
      </p:sp>
      <p:sp>
        <p:nvSpPr>
          <p:cNvPr id="14" name="Text 9"/>
          <p:cNvSpPr/>
          <p:nvPr/>
        </p:nvSpPr>
        <p:spPr>
          <a:xfrm>
            <a:off x="1462326" y="4829770"/>
            <a:ext cx="5744647"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Manual diagnostic methods can be subject to mistakes.</a:t>
            </a:r>
            <a:endParaRPr lang="en-US" sz="1700" dirty="0"/>
          </a:p>
        </p:txBody>
      </p:sp>
      <p:sp>
        <p:nvSpPr>
          <p:cNvPr id="15" name="Shape 10"/>
          <p:cNvSpPr/>
          <p:nvPr/>
        </p:nvSpPr>
        <p:spPr>
          <a:xfrm>
            <a:off x="7423547" y="4343638"/>
            <a:ext cx="487442" cy="487442"/>
          </a:xfrm>
          <a:prstGeom prst="roundRect">
            <a:avLst>
              <a:gd name="adj" fmla="val 40004"/>
            </a:avLst>
          </a:prstGeom>
          <a:solidFill>
            <a:srgbClr val="EEEFF5"/>
          </a:solidFill>
          <a:ln/>
          <a:effectLst>
            <a:outerShdw sx="100000" sy="100000" kx="0" ky="0" algn="bl" rotWithShape="0" blurRad="53340" dist="26670" dir="13500000">
              <a:srgbClr val="ffffff">
                <a:alpha val="70000"/>
              </a:srgbClr>
            </a:outerShdw>
          </a:effectLst>
        </p:spPr>
      </p:sp>
      <p:pic>
        <p:nvPicPr>
          <p:cNvPr id="16" name="Image 3" descr="preencoded.png">    </p:cNvPr>
          <p:cNvPicPr>
            <a:picLocks noChangeAspect="1"/>
          </p:cNvPicPr>
          <p:nvPr/>
        </p:nvPicPr>
        <p:blipFill>
          <a:blip r:embed="rId4"/>
          <a:stretch>
            <a:fillRect/>
          </a:stretch>
        </p:blipFill>
        <p:spPr>
          <a:xfrm>
            <a:off x="7496235" y="4373582"/>
            <a:ext cx="342067" cy="427553"/>
          </a:xfrm>
          <a:prstGeom prst="rect">
            <a:avLst/>
          </a:prstGeom>
        </p:spPr>
      </p:pic>
      <p:sp>
        <p:nvSpPr>
          <p:cNvPr id="17" name="Text 11"/>
          <p:cNvSpPr/>
          <p:nvPr/>
        </p:nvSpPr>
        <p:spPr>
          <a:xfrm>
            <a:off x="8127563" y="4343638"/>
            <a:ext cx="3080980"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Need for Early Detection</a:t>
            </a:r>
            <a:endParaRPr lang="en-US" sz="2200" dirty="0"/>
          </a:p>
        </p:txBody>
      </p:sp>
      <p:sp>
        <p:nvSpPr>
          <p:cNvPr id="18" name="Text 12"/>
          <p:cNvSpPr/>
          <p:nvPr/>
        </p:nvSpPr>
        <p:spPr>
          <a:xfrm>
            <a:off x="8127563" y="4829770"/>
            <a:ext cx="5744647"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Brain tumors require timely identification for effective treatment.</a:t>
            </a:r>
            <a:endParaRPr lang="en-US" sz="1700" dirty="0"/>
          </a:p>
        </p:txBody>
      </p:sp>
      <p:sp>
        <p:nvSpPr>
          <p:cNvPr id="19" name="Text 13"/>
          <p:cNvSpPr/>
          <p:nvPr/>
        </p:nvSpPr>
        <p:spPr>
          <a:xfrm>
            <a:off x="758309" y="5766911"/>
            <a:ext cx="13113782"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There is a pressing need for an automated system that can quickly and accurately identify brain tumors and classify their types, along with an interface that enables patients to seek donations from donors.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2123480"/>
            <a:ext cx="5701546"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Objective</a:t>
            </a:r>
            <a:endParaRPr lang="en-US" sz="4450" dirty="0"/>
          </a:p>
        </p:txBody>
      </p:sp>
      <p:sp>
        <p:nvSpPr>
          <p:cNvPr id="3" name="Text 1"/>
          <p:cNvSpPr/>
          <p:nvPr/>
        </p:nvSpPr>
        <p:spPr>
          <a:xfrm>
            <a:off x="758309" y="3377684"/>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Traditional Methods</a:t>
            </a:r>
            <a:endParaRPr lang="en-US" sz="2200" dirty="0"/>
          </a:p>
        </p:txBody>
      </p:sp>
      <p:sp>
        <p:nvSpPr>
          <p:cNvPr id="4" name="Text 2"/>
          <p:cNvSpPr/>
          <p:nvPr/>
        </p:nvSpPr>
        <p:spPr>
          <a:xfrm>
            <a:off x="758309" y="3950494"/>
            <a:ext cx="6292572"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Conventional diagnostic approaches can be time-consuming, expensive, and prone to human error.</a:t>
            </a:r>
            <a:endParaRPr lang="en-US" sz="1700" dirty="0"/>
          </a:p>
        </p:txBody>
      </p:sp>
      <p:sp>
        <p:nvSpPr>
          <p:cNvPr id="5" name="Text 3"/>
          <p:cNvSpPr/>
          <p:nvPr/>
        </p:nvSpPr>
        <p:spPr>
          <a:xfrm>
            <a:off x="758309" y="4838819"/>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272525"/>
                </a:solidFill>
                <a:latin typeface="Montserrat" pitchFamily="34" charset="0"/>
                <a:ea typeface="Montserrat" pitchFamily="34" charset="-122"/>
                <a:cs typeface="Montserrat" pitchFamily="34" charset="-120"/>
              </a:rPr>
              <a:t>Lengthy diagnostic processes</a:t>
            </a:r>
            <a:endParaRPr lang="en-US" sz="1700" dirty="0"/>
          </a:p>
        </p:txBody>
      </p:sp>
      <p:sp>
        <p:nvSpPr>
          <p:cNvPr id="6" name="Text 4"/>
          <p:cNvSpPr/>
          <p:nvPr/>
        </p:nvSpPr>
        <p:spPr>
          <a:xfrm>
            <a:off x="758309" y="5261253"/>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272525"/>
                </a:solidFill>
                <a:latin typeface="Montserrat" pitchFamily="34" charset="0"/>
                <a:ea typeface="Montserrat" pitchFamily="34" charset="-122"/>
                <a:cs typeface="Montserrat" pitchFamily="34" charset="-120"/>
              </a:rPr>
              <a:t>High costs involved</a:t>
            </a:r>
            <a:endParaRPr lang="en-US" sz="1700" dirty="0"/>
          </a:p>
        </p:txBody>
      </p:sp>
      <p:sp>
        <p:nvSpPr>
          <p:cNvPr id="7" name="Text 5"/>
          <p:cNvSpPr/>
          <p:nvPr/>
        </p:nvSpPr>
        <p:spPr>
          <a:xfrm>
            <a:off x="758309" y="5683687"/>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272525"/>
                </a:solidFill>
                <a:latin typeface="Montserrat" pitchFamily="34" charset="0"/>
                <a:ea typeface="Montserrat" pitchFamily="34" charset="-122"/>
                <a:cs typeface="Montserrat" pitchFamily="34" charset="-120"/>
              </a:rPr>
              <a:t>Potential for human error</a:t>
            </a:r>
            <a:endParaRPr lang="en-US" sz="1700" dirty="0"/>
          </a:p>
        </p:txBody>
      </p:sp>
      <p:sp>
        <p:nvSpPr>
          <p:cNvPr id="8" name="Text 6"/>
          <p:cNvSpPr/>
          <p:nvPr/>
        </p:nvSpPr>
        <p:spPr>
          <a:xfrm>
            <a:off x="7587139" y="3377684"/>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AI-Enhanced System</a:t>
            </a:r>
            <a:endParaRPr lang="en-US" sz="2200" dirty="0"/>
          </a:p>
        </p:txBody>
      </p:sp>
      <p:sp>
        <p:nvSpPr>
          <p:cNvPr id="9" name="Text 7"/>
          <p:cNvSpPr/>
          <p:nvPr/>
        </p:nvSpPr>
        <p:spPr>
          <a:xfrm>
            <a:off x="7587139" y="3950494"/>
            <a:ext cx="6292572"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Our web-based interface provides enhanced tumor diagnosis using a CNN-based tumor detection system.</a:t>
            </a:r>
            <a:endParaRPr lang="en-US" sz="1700" dirty="0"/>
          </a:p>
        </p:txBody>
      </p:sp>
      <p:sp>
        <p:nvSpPr>
          <p:cNvPr id="10" name="Text 8"/>
          <p:cNvSpPr/>
          <p:nvPr/>
        </p:nvSpPr>
        <p:spPr>
          <a:xfrm>
            <a:off x="7587139" y="4838819"/>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272525"/>
                </a:solidFill>
                <a:latin typeface="Montserrat" pitchFamily="34" charset="0"/>
                <a:ea typeface="Montserrat" pitchFamily="34" charset="-122"/>
                <a:cs typeface="Montserrat" pitchFamily="34" charset="-120"/>
              </a:rPr>
              <a:t>Rapid tumor identification</a:t>
            </a:r>
            <a:endParaRPr lang="en-US" sz="1700" dirty="0"/>
          </a:p>
        </p:txBody>
      </p:sp>
      <p:sp>
        <p:nvSpPr>
          <p:cNvPr id="11" name="Text 9"/>
          <p:cNvSpPr/>
          <p:nvPr/>
        </p:nvSpPr>
        <p:spPr>
          <a:xfrm>
            <a:off x="7587139" y="5261253"/>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272525"/>
                </a:solidFill>
                <a:latin typeface="Montserrat" pitchFamily="34" charset="0"/>
                <a:ea typeface="Montserrat" pitchFamily="34" charset="-122"/>
                <a:cs typeface="Montserrat" pitchFamily="34" charset="-120"/>
              </a:rPr>
              <a:t>Accurate tumor classification</a:t>
            </a:r>
            <a:endParaRPr lang="en-US" sz="1700" dirty="0"/>
          </a:p>
        </p:txBody>
      </p:sp>
      <p:sp>
        <p:nvSpPr>
          <p:cNvPr id="12" name="Text 10"/>
          <p:cNvSpPr/>
          <p:nvPr/>
        </p:nvSpPr>
        <p:spPr>
          <a:xfrm>
            <a:off x="7587139" y="5683687"/>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272525"/>
                </a:solidFill>
                <a:latin typeface="Montserrat" pitchFamily="34" charset="0"/>
                <a:ea typeface="Montserrat" pitchFamily="34" charset="-122"/>
                <a:cs typeface="Montserrat" pitchFamily="34" charset="-120"/>
              </a:rPr>
              <a:t>Financial support options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1088112"/>
            <a:ext cx="6745724"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Benefits to the Community</a:t>
            </a:r>
            <a:endParaRPr lang="en-US" sz="4450" dirty="0"/>
          </a:p>
        </p:txBody>
      </p:sp>
      <p:pic>
        <p:nvPicPr>
          <p:cNvPr id="4" name="Image 1" descr="preencoded.png">    </p:cNvPr>
          <p:cNvPicPr>
            <a:picLocks noChangeAspect="1"/>
          </p:cNvPicPr>
          <p:nvPr/>
        </p:nvPicPr>
        <p:blipFill>
          <a:blip r:embed="rId2"/>
          <a:stretch>
            <a:fillRect/>
          </a:stretch>
        </p:blipFill>
        <p:spPr>
          <a:xfrm>
            <a:off x="758309" y="2163604"/>
            <a:ext cx="541615" cy="541615"/>
          </a:xfrm>
          <a:prstGeom prst="rect">
            <a:avLst/>
          </a:prstGeom>
        </p:spPr>
      </p:pic>
      <p:sp>
        <p:nvSpPr>
          <p:cNvPr id="5" name="Text 1"/>
          <p:cNvSpPr/>
          <p:nvPr/>
        </p:nvSpPr>
        <p:spPr>
          <a:xfrm>
            <a:off x="1516499" y="2125742"/>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Improved Access</a:t>
            </a:r>
            <a:endParaRPr lang="en-US" sz="2200" dirty="0"/>
          </a:p>
        </p:txBody>
      </p:sp>
      <p:pic>
        <p:nvPicPr>
          <p:cNvPr id="6" name="Image 2" descr="preencoded.png">    </p:cNvPr>
          <p:cNvPicPr>
            <a:picLocks noChangeAspect="1"/>
          </p:cNvPicPr>
          <p:nvPr/>
        </p:nvPicPr>
        <p:blipFill>
          <a:blip r:embed="rId3"/>
          <a:stretch>
            <a:fillRect/>
          </a:stretch>
        </p:blipFill>
        <p:spPr>
          <a:xfrm>
            <a:off x="758309" y="3393043"/>
            <a:ext cx="541615" cy="541615"/>
          </a:xfrm>
          <a:prstGeom prst="rect">
            <a:avLst/>
          </a:prstGeom>
        </p:spPr>
      </p:pic>
      <p:sp>
        <p:nvSpPr>
          <p:cNvPr id="7" name="Text 2"/>
          <p:cNvSpPr/>
          <p:nvPr/>
        </p:nvSpPr>
        <p:spPr>
          <a:xfrm>
            <a:off x="1516499" y="3355181"/>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Financial Support</a:t>
            </a:r>
            <a:endParaRPr lang="en-US" sz="2200" dirty="0"/>
          </a:p>
        </p:txBody>
      </p:sp>
      <p:pic>
        <p:nvPicPr>
          <p:cNvPr id="8" name="Image 3" descr="preencoded.png">    </p:cNvPr>
          <p:cNvPicPr>
            <a:picLocks noChangeAspect="1"/>
          </p:cNvPicPr>
          <p:nvPr/>
        </p:nvPicPr>
        <p:blipFill>
          <a:blip r:embed="rId4"/>
          <a:stretch>
            <a:fillRect/>
          </a:stretch>
        </p:blipFill>
        <p:spPr>
          <a:xfrm>
            <a:off x="758309" y="4622483"/>
            <a:ext cx="541615" cy="541615"/>
          </a:xfrm>
          <a:prstGeom prst="rect">
            <a:avLst/>
          </a:prstGeom>
        </p:spPr>
      </p:pic>
      <p:sp>
        <p:nvSpPr>
          <p:cNvPr id="9" name="Text 3"/>
          <p:cNvSpPr/>
          <p:nvPr/>
        </p:nvSpPr>
        <p:spPr>
          <a:xfrm>
            <a:off x="1516499" y="4584621"/>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Convenience</a:t>
            </a:r>
            <a:endParaRPr lang="en-US" sz="2200" dirty="0"/>
          </a:p>
        </p:txBody>
      </p:sp>
      <p:sp>
        <p:nvSpPr>
          <p:cNvPr id="10" name="Text 4"/>
          <p:cNvSpPr/>
          <p:nvPr/>
        </p:nvSpPr>
        <p:spPr>
          <a:xfrm>
            <a:off x="758309" y="5407819"/>
            <a:ext cx="7627382" cy="173355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Our system provides convenience for patients by allowing them to easily upload MRI images and receive online analysis. It improves access to medical facilities by providing a directory of high-quality hospitals and doctors. The donation system offers secure financial support, connecting patients with donors to alleviate treatment costs.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37448"/>
          </a:xfrm>
          <a:prstGeom prst="rect">
            <a:avLst/>
          </a:prstGeom>
        </p:spPr>
      </p:pic>
      <p:sp>
        <p:nvSpPr>
          <p:cNvPr id="3" name="Text 0"/>
          <p:cNvSpPr/>
          <p:nvPr/>
        </p:nvSpPr>
        <p:spPr>
          <a:xfrm>
            <a:off x="758309" y="3081576"/>
            <a:ext cx="8289250" cy="641390"/>
          </a:xfrm>
          <a:prstGeom prst="rect">
            <a:avLst/>
          </a:prstGeom>
          <a:noFill/>
          <a:ln/>
        </p:spPr>
        <p:txBody>
          <a:bodyPr wrap="none" lIns="0" tIns="0" rIns="0" bIns="0" rtlCol="0" anchor="t"/>
          <a:lstStyle/>
          <a:p>
            <a:pPr algn="l" indent="0" marL="0">
              <a:lnSpc>
                <a:spcPts val="5050"/>
              </a:lnSpc>
              <a:buNone/>
            </a:pPr>
            <a:r>
              <a:rPr lang="en-US" sz="4000" b="1" dirty="0">
                <a:solidFill>
                  <a:srgbClr val="7068F4"/>
                </a:solidFill>
                <a:latin typeface="Barlow Bold" pitchFamily="34" charset="0"/>
                <a:ea typeface="Barlow Bold" pitchFamily="34" charset="-122"/>
                <a:cs typeface="Barlow Bold" pitchFamily="34" charset="-120"/>
              </a:rPr>
              <a:t>Literature Review: CNN Applications</a:t>
            </a:r>
            <a:endParaRPr lang="en-US" sz="4000" dirty="0"/>
          </a:p>
        </p:txBody>
      </p:sp>
      <p:sp>
        <p:nvSpPr>
          <p:cNvPr id="4" name="Shape 1"/>
          <p:cNvSpPr/>
          <p:nvPr/>
        </p:nvSpPr>
        <p:spPr>
          <a:xfrm>
            <a:off x="758309" y="4015383"/>
            <a:ext cx="13113782" cy="3569970"/>
          </a:xfrm>
          <a:prstGeom prst="roundRect">
            <a:avLst>
              <a:gd name="adj" fmla="val 4916"/>
            </a:avLst>
          </a:prstGeom>
          <a:noFill/>
          <a:ln w="7620">
            <a:solidFill>
              <a:srgbClr val="000000">
                <a:alpha val="8000"/>
              </a:srgbClr>
            </a:solidFill>
            <a:prstDash val="solid"/>
          </a:ln>
        </p:spPr>
      </p:sp>
      <p:sp>
        <p:nvSpPr>
          <p:cNvPr id="5" name="Shape 2"/>
          <p:cNvSpPr/>
          <p:nvPr/>
        </p:nvSpPr>
        <p:spPr>
          <a:xfrm>
            <a:off x="765929" y="4023003"/>
            <a:ext cx="13097232" cy="561023"/>
          </a:xfrm>
          <a:prstGeom prst="rect">
            <a:avLst/>
          </a:prstGeom>
          <a:solidFill>
            <a:srgbClr val="FFFFFF">
              <a:alpha val="4000"/>
            </a:srgbClr>
          </a:solidFill>
          <a:ln/>
        </p:spPr>
      </p:sp>
      <p:sp>
        <p:nvSpPr>
          <p:cNvPr id="6" name="Text 3"/>
          <p:cNvSpPr/>
          <p:nvPr/>
        </p:nvSpPr>
        <p:spPr>
          <a:xfrm>
            <a:off x="962144" y="4147542"/>
            <a:ext cx="3971687" cy="311944"/>
          </a:xfrm>
          <a:prstGeom prst="rect">
            <a:avLst/>
          </a:prstGeom>
          <a:noFill/>
          <a:ln/>
        </p:spPr>
        <p:txBody>
          <a:bodyPr wrap="none" lIns="0" tIns="0" rIns="0" bIns="0" rtlCol="0" anchor="t"/>
          <a:lstStyle/>
          <a:p>
            <a:pPr algn="l"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Title</a:t>
            </a:r>
            <a:endParaRPr lang="en-US" sz="1500" dirty="0"/>
          </a:p>
        </p:txBody>
      </p:sp>
      <p:sp>
        <p:nvSpPr>
          <p:cNvPr id="7" name="Text 4"/>
          <p:cNvSpPr/>
          <p:nvPr/>
        </p:nvSpPr>
        <p:spPr>
          <a:xfrm>
            <a:off x="5331262" y="4147542"/>
            <a:ext cx="3967877" cy="311944"/>
          </a:xfrm>
          <a:prstGeom prst="rect">
            <a:avLst/>
          </a:prstGeom>
          <a:noFill/>
          <a:ln/>
        </p:spPr>
        <p:txBody>
          <a:bodyPr wrap="none" lIns="0" tIns="0" rIns="0" bIns="0" rtlCol="0" anchor="t"/>
          <a:lstStyle/>
          <a:p>
            <a:pPr algn="l"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Author</a:t>
            </a:r>
            <a:endParaRPr lang="en-US" sz="1500" dirty="0"/>
          </a:p>
        </p:txBody>
      </p:sp>
      <p:sp>
        <p:nvSpPr>
          <p:cNvPr id="8" name="Text 5"/>
          <p:cNvSpPr/>
          <p:nvPr/>
        </p:nvSpPr>
        <p:spPr>
          <a:xfrm>
            <a:off x="9696569" y="4147542"/>
            <a:ext cx="3971687" cy="311944"/>
          </a:xfrm>
          <a:prstGeom prst="rect">
            <a:avLst/>
          </a:prstGeom>
          <a:noFill/>
          <a:ln/>
        </p:spPr>
        <p:txBody>
          <a:bodyPr wrap="none" lIns="0" tIns="0" rIns="0" bIns="0" rtlCol="0" anchor="t"/>
          <a:lstStyle/>
          <a:p>
            <a:pPr algn="l"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Overview</a:t>
            </a:r>
            <a:endParaRPr lang="en-US" sz="1500" dirty="0"/>
          </a:p>
        </p:txBody>
      </p:sp>
      <p:sp>
        <p:nvSpPr>
          <p:cNvPr id="9" name="Shape 6"/>
          <p:cNvSpPr/>
          <p:nvPr/>
        </p:nvSpPr>
        <p:spPr>
          <a:xfrm>
            <a:off x="765929" y="4584025"/>
            <a:ext cx="13097232" cy="1496854"/>
          </a:xfrm>
          <a:prstGeom prst="rect">
            <a:avLst/>
          </a:prstGeom>
          <a:solidFill>
            <a:srgbClr val="000000">
              <a:alpha val="4000"/>
            </a:srgbClr>
          </a:solidFill>
          <a:ln/>
        </p:spPr>
      </p:sp>
      <p:sp>
        <p:nvSpPr>
          <p:cNvPr id="10" name="Text 7"/>
          <p:cNvSpPr/>
          <p:nvPr/>
        </p:nvSpPr>
        <p:spPr>
          <a:xfrm>
            <a:off x="962144" y="4708565"/>
            <a:ext cx="3971687" cy="935831"/>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Brain Tumor Detection using MRI Images and Convolutional Neural Network</a:t>
            </a:r>
            <a:endParaRPr lang="en-US" sz="1500" dirty="0"/>
          </a:p>
        </p:txBody>
      </p:sp>
      <p:sp>
        <p:nvSpPr>
          <p:cNvPr id="11" name="Text 8"/>
          <p:cNvSpPr/>
          <p:nvPr/>
        </p:nvSpPr>
        <p:spPr>
          <a:xfrm>
            <a:off x="5331262" y="4708565"/>
            <a:ext cx="3967877" cy="935831"/>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Driss Lamrani, Bouchaib Cherradi, Oussama El Gannour, Mohammed Amine Bouqentar</a:t>
            </a:r>
            <a:endParaRPr lang="en-US" sz="1500" dirty="0"/>
          </a:p>
        </p:txBody>
      </p:sp>
      <p:sp>
        <p:nvSpPr>
          <p:cNvPr id="12" name="Text 9"/>
          <p:cNvSpPr/>
          <p:nvPr/>
        </p:nvSpPr>
        <p:spPr>
          <a:xfrm>
            <a:off x="9696569" y="4708565"/>
            <a:ext cx="3971687" cy="1247775"/>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Applies CNNs to detect and classify brain tumors, demonstrating exceptional performance in identifying tumors.</a:t>
            </a:r>
            <a:endParaRPr lang="en-US" sz="1500" dirty="0"/>
          </a:p>
        </p:txBody>
      </p:sp>
      <p:sp>
        <p:nvSpPr>
          <p:cNvPr id="13" name="Shape 10"/>
          <p:cNvSpPr/>
          <p:nvPr/>
        </p:nvSpPr>
        <p:spPr>
          <a:xfrm>
            <a:off x="765929" y="6080879"/>
            <a:ext cx="13097232" cy="1496854"/>
          </a:xfrm>
          <a:prstGeom prst="rect">
            <a:avLst/>
          </a:prstGeom>
          <a:solidFill>
            <a:srgbClr val="FFFFFF">
              <a:alpha val="4000"/>
            </a:srgbClr>
          </a:solidFill>
          <a:ln/>
        </p:spPr>
      </p:sp>
      <p:sp>
        <p:nvSpPr>
          <p:cNvPr id="14" name="Text 11"/>
          <p:cNvSpPr/>
          <p:nvPr/>
        </p:nvSpPr>
        <p:spPr>
          <a:xfrm>
            <a:off x="962144" y="6205418"/>
            <a:ext cx="3971687" cy="935831"/>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Detection of tumors on brain MRI images using the hybrid convolutional neural network architecture</a:t>
            </a:r>
            <a:endParaRPr lang="en-US" sz="1500" dirty="0"/>
          </a:p>
        </p:txBody>
      </p:sp>
      <p:sp>
        <p:nvSpPr>
          <p:cNvPr id="15" name="Text 12"/>
          <p:cNvSpPr/>
          <p:nvPr/>
        </p:nvSpPr>
        <p:spPr>
          <a:xfrm>
            <a:off x="5331262" y="6205418"/>
            <a:ext cx="3967877" cy="311944"/>
          </a:xfrm>
          <a:prstGeom prst="rect">
            <a:avLst/>
          </a:prstGeom>
          <a:noFill/>
          <a:ln/>
        </p:spPr>
        <p:txBody>
          <a:bodyPr wrap="none" lIns="0" tIns="0" rIns="0" bIns="0" rtlCol="0" anchor="t"/>
          <a:lstStyle/>
          <a:p>
            <a:pPr algn="l"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Ahmet Cinar, Muhammed Yildirim</a:t>
            </a:r>
            <a:endParaRPr lang="en-US" sz="1500" dirty="0"/>
          </a:p>
        </p:txBody>
      </p:sp>
      <p:sp>
        <p:nvSpPr>
          <p:cNvPr id="16" name="Text 13"/>
          <p:cNvSpPr/>
          <p:nvPr/>
        </p:nvSpPr>
        <p:spPr>
          <a:xfrm>
            <a:off x="9696569" y="6205418"/>
            <a:ext cx="3971687" cy="1247775"/>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Focuses on diagnosing brain tumors using MRI images and CNNs with ResNet50, enhancing specialists' efficiency and reducing errors.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8309" y="1615559"/>
            <a:ext cx="10038993"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Literature Review: Image Segmentation</a:t>
            </a:r>
            <a:endParaRPr lang="en-US" sz="4450" dirty="0"/>
          </a:p>
        </p:txBody>
      </p:sp>
      <p:sp>
        <p:nvSpPr>
          <p:cNvPr id="3" name="Shape 1"/>
          <p:cNvSpPr/>
          <p:nvPr/>
        </p:nvSpPr>
        <p:spPr>
          <a:xfrm>
            <a:off x="758309" y="2653189"/>
            <a:ext cx="13113782" cy="3960733"/>
          </a:xfrm>
          <a:prstGeom prst="roundRect">
            <a:avLst>
              <a:gd name="adj" fmla="val 4923"/>
            </a:avLst>
          </a:prstGeom>
          <a:noFill/>
          <a:ln w="7620">
            <a:solidFill>
              <a:srgbClr val="000000">
                <a:alpha val="8000"/>
              </a:srgbClr>
            </a:solidFill>
            <a:prstDash val="solid"/>
          </a:ln>
        </p:spPr>
      </p:sp>
      <p:sp>
        <p:nvSpPr>
          <p:cNvPr id="4" name="Shape 2"/>
          <p:cNvSpPr/>
          <p:nvPr/>
        </p:nvSpPr>
        <p:spPr>
          <a:xfrm>
            <a:off x="765929" y="2660809"/>
            <a:ext cx="13097232" cy="621744"/>
          </a:xfrm>
          <a:prstGeom prst="rect">
            <a:avLst/>
          </a:prstGeom>
          <a:solidFill>
            <a:srgbClr val="FFFFFF">
              <a:alpha val="4000"/>
            </a:srgbClr>
          </a:solidFill>
          <a:ln/>
        </p:spPr>
      </p:sp>
      <p:sp>
        <p:nvSpPr>
          <p:cNvPr id="5" name="Text 3"/>
          <p:cNvSpPr/>
          <p:nvPr/>
        </p:nvSpPr>
        <p:spPr>
          <a:xfrm>
            <a:off x="983813" y="2798326"/>
            <a:ext cx="3928348"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Title</a:t>
            </a:r>
            <a:endParaRPr lang="en-US" sz="1700" dirty="0"/>
          </a:p>
        </p:txBody>
      </p:sp>
      <p:sp>
        <p:nvSpPr>
          <p:cNvPr id="6" name="Text 4"/>
          <p:cNvSpPr/>
          <p:nvPr/>
        </p:nvSpPr>
        <p:spPr>
          <a:xfrm>
            <a:off x="5352931" y="2798326"/>
            <a:ext cx="3924538"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Author</a:t>
            </a:r>
            <a:endParaRPr lang="en-US" sz="1700" dirty="0"/>
          </a:p>
        </p:txBody>
      </p:sp>
      <p:sp>
        <p:nvSpPr>
          <p:cNvPr id="7" name="Text 5"/>
          <p:cNvSpPr/>
          <p:nvPr/>
        </p:nvSpPr>
        <p:spPr>
          <a:xfrm>
            <a:off x="9718238" y="2798326"/>
            <a:ext cx="3928348"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Overview</a:t>
            </a:r>
            <a:endParaRPr lang="en-US" sz="1700" dirty="0"/>
          </a:p>
        </p:txBody>
      </p:sp>
      <p:sp>
        <p:nvSpPr>
          <p:cNvPr id="8" name="Shape 6"/>
          <p:cNvSpPr/>
          <p:nvPr/>
        </p:nvSpPr>
        <p:spPr>
          <a:xfrm>
            <a:off x="765929" y="3282553"/>
            <a:ext cx="13097232" cy="1661874"/>
          </a:xfrm>
          <a:prstGeom prst="rect">
            <a:avLst/>
          </a:prstGeom>
          <a:solidFill>
            <a:srgbClr val="000000">
              <a:alpha val="4000"/>
            </a:srgbClr>
          </a:solidFill>
          <a:ln/>
        </p:spPr>
      </p:sp>
      <p:sp>
        <p:nvSpPr>
          <p:cNvPr id="9" name="Text 7"/>
          <p:cNvSpPr/>
          <p:nvPr/>
        </p:nvSpPr>
        <p:spPr>
          <a:xfrm>
            <a:off x="983813" y="3420070"/>
            <a:ext cx="3928348"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BRAIN TUMOR MRI IMAGE SEGMENTATION AND DETECTION</a:t>
            </a:r>
            <a:endParaRPr lang="en-US" sz="1700" dirty="0"/>
          </a:p>
        </p:txBody>
      </p:sp>
      <p:sp>
        <p:nvSpPr>
          <p:cNvPr id="10" name="Text 8"/>
          <p:cNvSpPr/>
          <p:nvPr/>
        </p:nvSpPr>
        <p:spPr>
          <a:xfrm>
            <a:off x="5352931" y="3420070"/>
            <a:ext cx="3924538"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Rohini Paul Joseph, C. Senthil Singh, M.Manikandan.</a:t>
            </a:r>
            <a:endParaRPr lang="en-US" sz="1700" dirty="0"/>
          </a:p>
        </p:txBody>
      </p:sp>
      <p:sp>
        <p:nvSpPr>
          <p:cNvPr id="11" name="Text 9"/>
          <p:cNvSpPr/>
          <p:nvPr/>
        </p:nvSpPr>
        <p:spPr>
          <a:xfrm>
            <a:off x="9718238" y="3420070"/>
            <a:ext cx="3928348"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Uses K-means clustering for MRI image segmentation and morphological filtering to enhance images.</a:t>
            </a:r>
            <a:endParaRPr lang="en-US" sz="1700" dirty="0"/>
          </a:p>
        </p:txBody>
      </p:sp>
      <p:sp>
        <p:nvSpPr>
          <p:cNvPr id="12" name="Shape 10"/>
          <p:cNvSpPr/>
          <p:nvPr/>
        </p:nvSpPr>
        <p:spPr>
          <a:xfrm>
            <a:off x="765929" y="4944428"/>
            <a:ext cx="13097232" cy="1661874"/>
          </a:xfrm>
          <a:prstGeom prst="rect">
            <a:avLst/>
          </a:prstGeom>
          <a:solidFill>
            <a:srgbClr val="FFFFFF">
              <a:alpha val="4000"/>
            </a:srgbClr>
          </a:solidFill>
          <a:ln/>
        </p:spPr>
      </p:sp>
      <p:sp>
        <p:nvSpPr>
          <p:cNvPr id="13" name="Text 11"/>
          <p:cNvSpPr/>
          <p:nvPr/>
        </p:nvSpPr>
        <p:spPr>
          <a:xfrm>
            <a:off x="983813" y="5081945"/>
            <a:ext cx="3928348"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Detection of Brain Tumor from MRI images by using Segmentation</a:t>
            </a:r>
            <a:endParaRPr lang="en-US" sz="1700" dirty="0"/>
          </a:p>
        </p:txBody>
      </p:sp>
      <p:sp>
        <p:nvSpPr>
          <p:cNvPr id="14" name="Text 12"/>
          <p:cNvSpPr/>
          <p:nvPr/>
        </p:nvSpPr>
        <p:spPr>
          <a:xfrm>
            <a:off x="5352931" y="5081945"/>
            <a:ext cx="3924538"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Swapnil R. Telrandhe, Amit Pimpalkar, Ankita Kendhe.</a:t>
            </a:r>
            <a:endParaRPr lang="en-US" sz="1700" dirty="0"/>
          </a:p>
        </p:txBody>
      </p:sp>
      <p:sp>
        <p:nvSpPr>
          <p:cNvPr id="15" name="Text 13"/>
          <p:cNvSpPr/>
          <p:nvPr/>
        </p:nvSpPr>
        <p:spPr>
          <a:xfrm>
            <a:off x="9718238" y="5081945"/>
            <a:ext cx="3928348"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Proposes a tumor detection method using K-Means clustering, Object Labeling, and preprocessing techniques.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8309" y="1615559"/>
            <a:ext cx="9432488"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Literature Review: AI-Based Systems</a:t>
            </a:r>
            <a:endParaRPr lang="en-US" sz="4450" dirty="0"/>
          </a:p>
        </p:txBody>
      </p:sp>
      <p:sp>
        <p:nvSpPr>
          <p:cNvPr id="3" name="Shape 1"/>
          <p:cNvSpPr/>
          <p:nvPr/>
        </p:nvSpPr>
        <p:spPr>
          <a:xfrm>
            <a:off x="758309" y="2653189"/>
            <a:ext cx="13113782" cy="3960733"/>
          </a:xfrm>
          <a:prstGeom prst="roundRect">
            <a:avLst>
              <a:gd name="adj" fmla="val 4923"/>
            </a:avLst>
          </a:prstGeom>
          <a:noFill/>
          <a:ln w="7620">
            <a:solidFill>
              <a:srgbClr val="000000">
                <a:alpha val="8000"/>
              </a:srgbClr>
            </a:solidFill>
            <a:prstDash val="solid"/>
          </a:ln>
        </p:spPr>
      </p:sp>
      <p:sp>
        <p:nvSpPr>
          <p:cNvPr id="4" name="Shape 2"/>
          <p:cNvSpPr/>
          <p:nvPr/>
        </p:nvSpPr>
        <p:spPr>
          <a:xfrm>
            <a:off x="765929" y="2660809"/>
            <a:ext cx="13097232" cy="621744"/>
          </a:xfrm>
          <a:prstGeom prst="rect">
            <a:avLst/>
          </a:prstGeom>
          <a:solidFill>
            <a:srgbClr val="FFFFFF">
              <a:alpha val="4000"/>
            </a:srgbClr>
          </a:solidFill>
          <a:ln/>
        </p:spPr>
      </p:sp>
      <p:sp>
        <p:nvSpPr>
          <p:cNvPr id="5" name="Text 3"/>
          <p:cNvSpPr/>
          <p:nvPr/>
        </p:nvSpPr>
        <p:spPr>
          <a:xfrm>
            <a:off x="983813" y="2798326"/>
            <a:ext cx="3928348"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Title</a:t>
            </a:r>
            <a:endParaRPr lang="en-US" sz="1700" dirty="0"/>
          </a:p>
        </p:txBody>
      </p:sp>
      <p:sp>
        <p:nvSpPr>
          <p:cNvPr id="6" name="Text 4"/>
          <p:cNvSpPr/>
          <p:nvPr/>
        </p:nvSpPr>
        <p:spPr>
          <a:xfrm>
            <a:off x="5352931" y="2798326"/>
            <a:ext cx="3924538"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Author</a:t>
            </a:r>
            <a:endParaRPr lang="en-US" sz="1700" dirty="0"/>
          </a:p>
        </p:txBody>
      </p:sp>
      <p:sp>
        <p:nvSpPr>
          <p:cNvPr id="7" name="Text 5"/>
          <p:cNvSpPr/>
          <p:nvPr/>
        </p:nvSpPr>
        <p:spPr>
          <a:xfrm>
            <a:off x="9718238" y="2798326"/>
            <a:ext cx="3928348"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Overview</a:t>
            </a:r>
            <a:endParaRPr lang="en-US" sz="1700" dirty="0"/>
          </a:p>
        </p:txBody>
      </p:sp>
      <p:sp>
        <p:nvSpPr>
          <p:cNvPr id="8" name="Shape 6"/>
          <p:cNvSpPr/>
          <p:nvPr/>
        </p:nvSpPr>
        <p:spPr>
          <a:xfrm>
            <a:off x="765929" y="3282553"/>
            <a:ext cx="13097232" cy="1661874"/>
          </a:xfrm>
          <a:prstGeom prst="rect">
            <a:avLst/>
          </a:prstGeom>
          <a:solidFill>
            <a:srgbClr val="000000">
              <a:alpha val="4000"/>
            </a:srgbClr>
          </a:solidFill>
          <a:ln/>
        </p:spPr>
      </p:sp>
      <p:sp>
        <p:nvSpPr>
          <p:cNvPr id="9" name="Text 7"/>
          <p:cNvSpPr/>
          <p:nvPr/>
        </p:nvSpPr>
        <p:spPr>
          <a:xfrm>
            <a:off x="983813" y="3420070"/>
            <a:ext cx="3928348" cy="104013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An Automated Detection and Segmentation of Tumor in Brain MRI using Artificial Intelligence</a:t>
            </a:r>
            <a:endParaRPr lang="en-US" sz="1700" dirty="0"/>
          </a:p>
        </p:txBody>
      </p:sp>
      <p:sp>
        <p:nvSpPr>
          <p:cNvPr id="10" name="Text 8"/>
          <p:cNvSpPr/>
          <p:nvPr/>
        </p:nvSpPr>
        <p:spPr>
          <a:xfrm>
            <a:off x="5352931" y="3420070"/>
            <a:ext cx="3924538"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M. Y.Bhanumurthy, Koteswararao Anne</a:t>
            </a:r>
            <a:endParaRPr lang="en-US" sz="1700" dirty="0"/>
          </a:p>
        </p:txBody>
      </p:sp>
      <p:sp>
        <p:nvSpPr>
          <p:cNvPr id="11" name="Text 9"/>
          <p:cNvSpPr/>
          <p:nvPr/>
        </p:nvSpPr>
        <p:spPr>
          <a:xfrm>
            <a:off x="9718238" y="3420070"/>
            <a:ext cx="3928348"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Presents an AI-based system using a Neuro-fuzzy classifier for detecting and segmenting brain tumors.</a:t>
            </a:r>
            <a:endParaRPr lang="en-US" sz="1700" dirty="0"/>
          </a:p>
        </p:txBody>
      </p:sp>
      <p:sp>
        <p:nvSpPr>
          <p:cNvPr id="12" name="Shape 10"/>
          <p:cNvSpPr/>
          <p:nvPr/>
        </p:nvSpPr>
        <p:spPr>
          <a:xfrm>
            <a:off x="765929" y="4944428"/>
            <a:ext cx="13097232" cy="1661874"/>
          </a:xfrm>
          <a:prstGeom prst="rect">
            <a:avLst/>
          </a:prstGeom>
          <a:solidFill>
            <a:srgbClr val="FFFFFF">
              <a:alpha val="4000"/>
            </a:srgbClr>
          </a:solidFill>
          <a:ln/>
        </p:spPr>
      </p:sp>
      <p:sp>
        <p:nvSpPr>
          <p:cNvPr id="13" name="Text 11"/>
          <p:cNvSpPr/>
          <p:nvPr/>
        </p:nvSpPr>
        <p:spPr>
          <a:xfrm>
            <a:off x="983813" y="5081945"/>
            <a:ext cx="3928348"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Brain Tumor Detection Using Convolutional Neural Network</a:t>
            </a:r>
            <a:endParaRPr lang="en-US" sz="1700" dirty="0"/>
          </a:p>
        </p:txBody>
      </p:sp>
      <p:sp>
        <p:nvSpPr>
          <p:cNvPr id="14" name="Text 12"/>
          <p:cNvSpPr/>
          <p:nvPr/>
        </p:nvSpPr>
        <p:spPr>
          <a:xfrm>
            <a:off x="5352931" y="5081945"/>
            <a:ext cx="3924538"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Tonmoy Hossain, Fairuz Shadmani Shishir</a:t>
            </a:r>
            <a:endParaRPr lang="en-US" sz="1700" dirty="0"/>
          </a:p>
        </p:txBody>
      </p:sp>
      <p:sp>
        <p:nvSpPr>
          <p:cNvPr id="15" name="Text 13"/>
          <p:cNvSpPr/>
          <p:nvPr/>
        </p:nvSpPr>
        <p:spPr>
          <a:xfrm>
            <a:off x="9718238" y="5081945"/>
            <a:ext cx="3928348"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Combines Fuzzy C-Means for segmentation with CNNs for detection, ensuring high accuracy and information retention.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1176933"/>
            <a:ext cx="5800011"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Proposed Methodology</a:t>
            </a:r>
            <a:endParaRPr lang="en-US" sz="4450" dirty="0"/>
          </a:p>
        </p:txBody>
      </p:sp>
      <p:pic>
        <p:nvPicPr>
          <p:cNvPr id="4" name="Image 1" descr="preencoded.png">    </p:cNvPr>
          <p:cNvPicPr>
            <a:picLocks noChangeAspect="1"/>
          </p:cNvPicPr>
          <p:nvPr/>
        </p:nvPicPr>
        <p:blipFill>
          <a:blip r:embed="rId2"/>
          <a:stretch>
            <a:fillRect/>
          </a:stretch>
        </p:blipFill>
        <p:spPr>
          <a:xfrm>
            <a:off x="758309" y="2214563"/>
            <a:ext cx="1083231" cy="1612702"/>
          </a:xfrm>
          <a:prstGeom prst="rect">
            <a:avLst/>
          </a:prstGeom>
        </p:spPr>
      </p:pic>
      <p:sp>
        <p:nvSpPr>
          <p:cNvPr id="5" name="Text 1"/>
          <p:cNvSpPr/>
          <p:nvPr/>
        </p:nvSpPr>
        <p:spPr>
          <a:xfrm>
            <a:off x="2166461" y="2431137"/>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Dataset Preparation</a:t>
            </a:r>
            <a:endParaRPr lang="en-US" sz="2200" dirty="0"/>
          </a:p>
        </p:txBody>
      </p:sp>
      <p:sp>
        <p:nvSpPr>
          <p:cNvPr id="6" name="Text 2"/>
          <p:cNvSpPr/>
          <p:nvPr/>
        </p:nvSpPr>
        <p:spPr>
          <a:xfrm>
            <a:off x="2166461" y="2917269"/>
            <a:ext cx="6219230"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Source images from public datasets and preprocess and label according to tumor type.</a:t>
            </a:r>
            <a:endParaRPr lang="en-US" sz="1700" dirty="0"/>
          </a:p>
        </p:txBody>
      </p:sp>
      <p:pic>
        <p:nvPicPr>
          <p:cNvPr id="7" name="Image 2" descr="preencoded.png">    </p:cNvPr>
          <p:cNvPicPr>
            <a:picLocks noChangeAspect="1"/>
          </p:cNvPicPr>
          <p:nvPr/>
        </p:nvPicPr>
        <p:blipFill>
          <a:blip r:embed="rId3"/>
          <a:stretch>
            <a:fillRect/>
          </a:stretch>
        </p:blipFill>
        <p:spPr>
          <a:xfrm>
            <a:off x="758309" y="3827264"/>
            <a:ext cx="1083231" cy="1612702"/>
          </a:xfrm>
          <a:prstGeom prst="rect">
            <a:avLst/>
          </a:prstGeom>
        </p:spPr>
      </p:pic>
      <p:sp>
        <p:nvSpPr>
          <p:cNvPr id="8" name="Text 3"/>
          <p:cNvSpPr/>
          <p:nvPr/>
        </p:nvSpPr>
        <p:spPr>
          <a:xfrm>
            <a:off x="2166461" y="4043839"/>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Model Development</a:t>
            </a:r>
            <a:endParaRPr lang="en-US" sz="2200" dirty="0"/>
          </a:p>
        </p:txBody>
      </p:sp>
      <p:sp>
        <p:nvSpPr>
          <p:cNvPr id="9" name="Text 4"/>
          <p:cNvSpPr/>
          <p:nvPr/>
        </p:nvSpPr>
        <p:spPr>
          <a:xfrm>
            <a:off x="2166461" y="4529971"/>
            <a:ext cx="6219230"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Develop a CNN model and train on pre-processed MRI images to detect tumors effectively.</a:t>
            </a:r>
            <a:endParaRPr lang="en-US" sz="1700" dirty="0"/>
          </a:p>
        </p:txBody>
      </p:sp>
      <p:pic>
        <p:nvPicPr>
          <p:cNvPr id="10" name="Image 3" descr="preencoded.png">    </p:cNvPr>
          <p:cNvPicPr>
            <a:picLocks noChangeAspect="1"/>
          </p:cNvPicPr>
          <p:nvPr/>
        </p:nvPicPr>
        <p:blipFill>
          <a:blip r:embed="rId4"/>
          <a:stretch>
            <a:fillRect/>
          </a:stretch>
        </p:blipFill>
        <p:spPr>
          <a:xfrm>
            <a:off x="758309" y="5439966"/>
            <a:ext cx="1083231" cy="1612702"/>
          </a:xfrm>
          <a:prstGeom prst="rect">
            <a:avLst/>
          </a:prstGeom>
        </p:spPr>
      </p:pic>
      <p:sp>
        <p:nvSpPr>
          <p:cNvPr id="11" name="Text 5"/>
          <p:cNvSpPr/>
          <p:nvPr/>
        </p:nvSpPr>
        <p:spPr>
          <a:xfrm>
            <a:off x="2166461" y="5656540"/>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User Interface</a:t>
            </a:r>
            <a:endParaRPr lang="en-US" sz="2200" dirty="0"/>
          </a:p>
        </p:txBody>
      </p:sp>
      <p:sp>
        <p:nvSpPr>
          <p:cNvPr id="12" name="Text 6"/>
          <p:cNvSpPr/>
          <p:nvPr/>
        </p:nvSpPr>
        <p:spPr>
          <a:xfrm>
            <a:off x="2166461" y="6142673"/>
            <a:ext cx="6219230"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Design a simple and user-friendly interface for patients to upload MRI images and ask for donations.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739140"/>
            <a:ext cx="6013728"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Software Requirements</a:t>
            </a:r>
            <a:endParaRPr lang="en-US" sz="4450" dirty="0"/>
          </a:p>
        </p:txBody>
      </p:sp>
      <p:sp>
        <p:nvSpPr>
          <p:cNvPr id="4" name="Shape 1"/>
          <p:cNvSpPr/>
          <p:nvPr/>
        </p:nvSpPr>
        <p:spPr>
          <a:xfrm>
            <a:off x="6244709" y="1776770"/>
            <a:ext cx="7627382" cy="1265992"/>
          </a:xfrm>
          <a:prstGeom prst="roundRect">
            <a:avLst>
              <a:gd name="adj" fmla="val 15403"/>
            </a:avLst>
          </a:prstGeom>
          <a:solidFill>
            <a:srgbClr val="EEEFF5"/>
          </a:solidFill>
          <a:ln/>
          <a:effectLst>
            <a:outerShdw sx="100000" sy="100000" kx="0" ky="0" algn="bl" rotWithShape="0" blurRad="53340" dist="26670" dir="13500000">
              <a:srgbClr val="ffffff">
                <a:alpha val="70000"/>
              </a:srgbClr>
            </a:outerShdw>
          </a:effectLst>
        </p:spPr>
      </p:sp>
      <p:sp>
        <p:nvSpPr>
          <p:cNvPr id="5" name="Text 2"/>
          <p:cNvSpPr/>
          <p:nvPr/>
        </p:nvSpPr>
        <p:spPr>
          <a:xfrm>
            <a:off x="6461284" y="1993344"/>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Frontend: React.js</a:t>
            </a:r>
            <a:endParaRPr lang="en-US" sz="2200" dirty="0"/>
          </a:p>
        </p:txBody>
      </p:sp>
      <p:sp>
        <p:nvSpPr>
          <p:cNvPr id="6" name="Text 3"/>
          <p:cNvSpPr/>
          <p:nvPr/>
        </p:nvSpPr>
        <p:spPr>
          <a:xfrm>
            <a:off x="6461284" y="2479477"/>
            <a:ext cx="7194233"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User interface development.</a:t>
            </a:r>
            <a:endParaRPr lang="en-US" sz="1700" dirty="0"/>
          </a:p>
        </p:txBody>
      </p:sp>
      <p:sp>
        <p:nvSpPr>
          <p:cNvPr id="7" name="Shape 4"/>
          <p:cNvSpPr/>
          <p:nvPr/>
        </p:nvSpPr>
        <p:spPr>
          <a:xfrm>
            <a:off x="6244709" y="3259336"/>
            <a:ext cx="7627382" cy="1265992"/>
          </a:xfrm>
          <a:prstGeom prst="roundRect">
            <a:avLst>
              <a:gd name="adj" fmla="val 15403"/>
            </a:avLst>
          </a:prstGeom>
          <a:solidFill>
            <a:srgbClr val="EEEFF5"/>
          </a:solidFill>
          <a:ln/>
          <a:effectLst>
            <a:outerShdw sx="100000" sy="100000" kx="0" ky="0" algn="bl" rotWithShape="0" blurRad="53340" dist="26670" dir="13500000">
              <a:srgbClr val="ffffff">
                <a:alpha val="70000"/>
              </a:srgbClr>
            </a:outerShdw>
          </a:effectLst>
        </p:spPr>
      </p:sp>
      <p:sp>
        <p:nvSpPr>
          <p:cNvPr id="8" name="Text 5"/>
          <p:cNvSpPr/>
          <p:nvPr/>
        </p:nvSpPr>
        <p:spPr>
          <a:xfrm>
            <a:off x="6461284" y="3475911"/>
            <a:ext cx="3653076"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Backend: Node.js, Express.js</a:t>
            </a:r>
            <a:endParaRPr lang="en-US" sz="2200" dirty="0"/>
          </a:p>
        </p:txBody>
      </p:sp>
      <p:sp>
        <p:nvSpPr>
          <p:cNvPr id="9" name="Text 6"/>
          <p:cNvSpPr/>
          <p:nvPr/>
        </p:nvSpPr>
        <p:spPr>
          <a:xfrm>
            <a:off x="6461284" y="3962043"/>
            <a:ext cx="7194233"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API integration.</a:t>
            </a:r>
            <a:endParaRPr lang="en-US" sz="1700" dirty="0"/>
          </a:p>
        </p:txBody>
      </p:sp>
      <p:sp>
        <p:nvSpPr>
          <p:cNvPr id="10" name="Shape 7"/>
          <p:cNvSpPr/>
          <p:nvPr/>
        </p:nvSpPr>
        <p:spPr>
          <a:xfrm>
            <a:off x="6244709" y="4741902"/>
            <a:ext cx="7627382" cy="1265992"/>
          </a:xfrm>
          <a:prstGeom prst="roundRect">
            <a:avLst>
              <a:gd name="adj" fmla="val 15403"/>
            </a:avLst>
          </a:prstGeom>
          <a:solidFill>
            <a:srgbClr val="EEEFF5"/>
          </a:solidFill>
          <a:ln/>
          <a:effectLst>
            <a:outerShdw sx="100000" sy="100000" kx="0" ky="0" algn="bl" rotWithShape="0" blurRad="53340" dist="26670" dir="13500000">
              <a:srgbClr val="ffffff">
                <a:alpha val="70000"/>
              </a:srgbClr>
            </a:outerShdw>
          </a:effectLst>
        </p:spPr>
      </p:sp>
      <p:sp>
        <p:nvSpPr>
          <p:cNvPr id="11" name="Text 8"/>
          <p:cNvSpPr/>
          <p:nvPr/>
        </p:nvSpPr>
        <p:spPr>
          <a:xfrm>
            <a:off x="6461284" y="4958477"/>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Database: MongoDB</a:t>
            </a:r>
            <a:endParaRPr lang="en-US" sz="2200" dirty="0"/>
          </a:p>
        </p:txBody>
      </p:sp>
      <p:sp>
        <p:nvSpPr>
          <p:cNvPr id="12" name="Text 9"/>
          <p:cNvSpPr/>
          <p:nvPr/>
        </p:nvSpPr>
        <p:spPr>
          <a:xfrm>
            <a:off x="6461284" y="5444609"/>
            <a:ext cx="7194233"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Storing patient and donation data.</a:t>
            </a:r>
            <a:endParaRPr lang="en-US" sz="1700" dirty="0"/>
          </a:p>
        </p:txBody>
      </p:sp>
      <p:sp>
        <p:nvSpPr>
          <p:cNvPr id="13" name="Shape 10"/>
          <p:cNvSpPr/>
          <p:nvPr/>
        </p:nvSpPr>
        <p:spPr>
          <a:xfrm>
            <a:off x="6244709" y="6224468"/>
            <a:ext cx="7627382" cy="1265992"/>
          </a:xfrm>
          <a:prstGeom prst="roundRect">
            <a:avLst>
              <a:gd name="adj" fmla="val 15403"/>
            </a:avLst>
          </a:prstGeom>
          <a:solidFill>
            <a:srgbClr val="EEEFF5"/>
          </a:solidFill>
          <a:ln/>
          <a:effectLst>
            <a:outerShdw sx="100000" sy="100000" kx="0" ky="0" algn="bl" rotWithShape="0" blurRad="53340" dist="26670" dir="13500000">
              <a:srgbClr val="ffffff">
                <a:alpha val="70000"/>
              </a:srgbClr>
            </a:outerShdw>
          </a:effectLst>
        </p:spPr>
      </p:sp>
      <p:sp>
        <p:nvSpPr>
          <p:cNvPr id="14" name="Text 11"/>
          <p:cNvSpPr/>
          <p:nvPr/>
        </p:nvSpPr>
        <p:spPr>
          <a:xfrm>
            <a:off x="6461284" y="6441043"/>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AI/ML: CNN model</a:t>
            </a:r>
            <a:endParaRPr lang="en-US" sz="2200" dirty="0"/>
          </a:p>
        </p:txBody>
      </p:sp>
      <p:sp>
        <p:nvSpPr>
          <p:cNvPr id="15" name="Text 12"/>
          <p:cNvSpPr/>
          <p:nvPr/>
        </p:nvSpPr>
        <p:spPr>
          <a:xfrm>
            <a:off x="6461284" y="6927175"/>
            <a:ext cx="7194233"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MRI image processing.</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0"/>
            <a:ext cx="7315200" cy="8229600"/>
          </a:xfrm>
          <a:prstGeom prst="rect">
            <a:avLst/>
          </a:prstGeom>
        </p:spPr>
      </p:pic>
      <p:pic>
        <p:nvPicPr>
          <p:cNvPr id="3" name="Image 1" descr="preencoded.png">    </p:cNvPr>
          <p:cNvPicPr>
            <a:picLocks noChangeAspect="1"/>
          </p:cNvPicPr>
          <p:nvPr/>
        </p:nvPicPr>
        <p:blipFill>
          <a:blip r:embed="rId2"/>
          <a:stretch>
            <a:fillRect/>
          </a:stretch>
        </p:blipFill>
        <p:spPr>
          <a:xfrm>
            <a:off x="8389620" y="2708910"/>
            <a:ext cx="5166360" cy="2811780"/>
          </a:xfrm>
          <a:prstGeom prst="rect">
            <a:avLst/>
          </a:prstGeom>
        </p:spPr>
      </p:pic>
      <p:sp>
        <p:nvSpPr>
          <p:cNvPr id="4" name="Text 0"/>
          <p:cNvSpPr/>
          <p:nvPr/>
        </p:nvSpPr>
        <p:spPr>
          <a:xfrm>
            <a:off x="758309" y="2382441"/>
            <a:ext cx="5701546"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Work Flow</a:t>
            </a:r>
            <a:endParaRPr lang="en-US" sz="4450" dirty="0"/>
          </a:p>
        </p:txBody>
      </p:sp>
      <p:sp>
        <p:nvSpPr>
          <p:cNvPr id="5" name="Text 1"/>
          <p:cNvSpPr/>
          <p:nvPr/>
        </p:nvSpPr>
        <p:spPr>
          <a:xfrm>
            <a:off x="758309" y="3420070"/>
            <a:ext cx="5798582" cy="242697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The workflow begins with collecting MRI images, which are preprocessed to enhance quality. These are then passed through a CNN model that learns patterns for tumor detection, followed by evaluation to validate accuracy. This ensures efficient and accurate tumor identification, forming the backbone of our patient support system.</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58309" y="1406009"/>
            <a:ext cx="5701546"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Conclusion</a:t>
            </a:r>
            <a:endParaRPr lang="en-US" sz="4450" dirty="0"/>
          </a:p>
        </p:txBody>
      </p:sp>
      <p:sp>
        <p:nvSpPr>
          <p:cNvPr id="3" name="Text 1"/>
          <p:cNvSpPr/>
          <p:nvPr/>
        </p:nvSpPr>
        <p:spPr>
          <a:xfrm>
            <a:off x="758309" y="2443639"/>
            <a:ext cx="13113782"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Our project combines deep learning and React technology to offer a comprehensive solution for brain tumor detection, doctor interaction, and financial support. By providing accurate diagnosis and seamless communication, it empowers patients throughout their treatment journey. The system also enables users to contribute to medical expenses directly or through crowdfunding campaigns, easing the financial burden for patients in need of treatment.</a:t>
            </a:r>
            <a:endParaRPr lang="en-US" sz="1700" dirty="0"/>
          </a:p>
        </p:txBody>
      </p:sp>
      <p:sp>
        <p:nvSpPr>
          <p:cNvPr id="4" name="Text 2"/>
          <p:cNvSpPr/>
          <p:nvPr/>
        </p:nvSpPr>
        <p:spPr>
          <a:xfrm>
            <a:off x="758309" y="4155400"/>
            <a:ext cx="5701546"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References</a:t>
            </a:r>
            <a:endParaRPr lang="en-US" sz="4450" dirty="0"/>
          </a:p>
        </p:txBody>
      </p:sp>
      <p:sp>
        <p:nvSpPr>
          <p:cNvPr id="5" name="Text 3"/>
          <p:cNvSpPr/>
          <p:nvPr/>
        </p:nvSpPr>
        <p:spPr>
          <a:xfrm>
            <a:off x="758309" y="5193030"/>
            <a:ext cx="13113782" cy="1040130"/>
          </a:xfrm>
          <a:prstGeom prst="rect">
            <a:avLst/>
          </a:prstGeom>
          <a:noFill/>
          <a:ln/>
        </p:spPr>
        <p:txBody>
          <a:bodyPr wrap="square" lIns="0" tIns="0" rIns="0" bIns="0" rtlCol="0" anchor="t"/>
          <a:lstStyle/>
          <a:p>
            <a:pPr algn="l" marL="342900" indent="-342900">
              <a:lnSpc>
                <a:spcPts val="2700"/>
              </a:lnSpc>
              <a:buSzPct val="100000"/>
              <a:buChar char="•"/>
            </a:pPr>
            <a:r>
              <a:rPr lang="en-US" sz="1700" dirty="0">
                <a:solidFill>
                  <a:srgbClr val="272525"/>
                </a:solidFill>
                <a:latin typeface="Montserrat" pitchFamily="34" charset="0"/>
                <a:ea typeface="Montserrat" pitchFamily="34" charset="-122"/>
                <a:cs typeface="Montserrat" pitchFamily="34" charset="-120"/>
              </a:rPr>
              <a:t>Driss Lamrani, Bouchaib Cherradi, Oussama El Gannour, Mohammed Amine Bouqentar, Lhoussain Bahatti,2022. [Brain Tumor MRI Image Segmentation and Detection in Image Processing]. [International Journal of Advanced Computer Science and Applications]. </a:t>
            </a:r>
            <a:endParaRPr lang="en-US" sz="1700" dirty="0"/>
          </a:p>
        </p:txBody>
      </p:sp>
      <p:sp>
        <p:nvSpPr>
          <p:cNvPr id="6" name="Text 4"/>
          <p:cNvSpPr/>
          <p:nvPr/>
        </p:nvSpPr>
        <p:spPr>
          <a:xfrm>
            <a:off x="758309" y="6476881"/>
            <a:ext cx="13113782" cy="346710"/>
          </a:xfrm>
          <a:prstGeom prst="rect">
            <a:avLst/>
          </a:prstGeom>
          <a:noFill/>
          <a:ln/>
        </p:spPr>
        <p:txBody>
          <a:bodyPr wrap="none" lIns="0" tIns="0" rIns="0" bIns="0" rtlCol="0" anchor="t"/>
          <a:lstStyle/>
          <a:p>
            <a:pPr algn="l" indent="0" marL="0">
              <a:lnSpc>
                <a:spcPts val="2700"/>
              </a:lnSpc>
              <a:buNone/>
            </a:pPr>
            <a:endParaRPr lang="en-US" sz="1700" dirty="0"/>
          </a:p>
        </p:txBody>
      </p:sp>
    </p:spTree>
  </p:cSld>
  <p:clrMapOvr>
    <a:masterClrMapping/>
  </p:clrMapOvr>
</p:sld>
</file>

<file path=ppt/slides/slide13.xml><?xml version="1.0" encoding="UTF-8" standalone="yes"?>
<p:sld xmlns:a="http://schemas.openxmlformats.org/drawingml/2006/main" xmlns:r="http://schemas.openxmlformats.org/officeDocument/2006/relationships" xmlns:p="http://schemas.openxmlformats.org/presentationml/2006/main"><p:cSld name="Slide 13"><p:spTree><p:nvGrpSpPr><p:cNvPr id="1" name=""/><p:cNvGrpSpPr/><p:nvPr/></p:nvGrpSpPr><p:grpSpPr><a:xfrm><a:off x="0" y="0"/><a:ext cx="0" cy="0"/><a:chOff x="0" y="0"/><a:chExt cx="0" cy="0"/></a:xfrm></p:grpSpPr><p:sp><p:nvSpPr><p:cNvPr id="2" name="Text 0"></p:cNvPr><p:cNvSpPr/><p:nvPr></p:nvPr></p:nvSpPr><p:spPr><a:xfrm><a:off x="758309" y="2094309"/><a:ext cx="13113782" cy="693420"/></a:xfrm><a:prstGeom prst="rect"><a:avLst></a:avLst></a:prstGeom><a:noFill/><a:ln></a:ln></p:spPr><p:txBody><a:bodyPr wrap="square" lIns="0" tIns="0" rIns="0" bIns="0" rtlCol="0" anchor="t"></a:bodyPr><a:lstStyle/><a:p><a:pPr algn="l" marL="342900" indent="-342900"><a:lnSpc><a:spcPts val="2700"/></a:lnSpc><a:buSzPct val="100000"/><a:buChar char="&#x2022;"/></a:pPr><a:r><a:rPr lang="en-US" sz="1700" dirty="0"><a:solidFill><a:srgbClr val="272525"/></a:solidFill><a:latin typeface="Montserrat" pitchFamily="34" charset="0"/><a:ea typeface="Montserrat" pitchFamily="34" charset="-122"/><a:cs typeface="Montserrat" pitchFamily="34" charset="-120"/></a:rPr><a:t>M.Y.Bhanumurthy, Koteswararao Anne,2014, [An Automated Detection and Segmentation ofTumor in Brain MRI using Artificial Intelligence], [IEEE International Conference on Computational Intelligence]. </a:t></a:r><a:endParaRPr lang="en-US" sz="1700" dirty="0"/></a:p></p:txBody></p:sp><p:sp><p:nvSpPr><p:cNvPr id="3" name="Text 1"></p:cNvPr><p:cNvSpPr/><p:nvPr></p:nvPr></p:nvSpPr><p:spPr><a:xfrm><a:off x="758309" y="2863453"/><a:ext cx="13113782" cy="1040130"/></a:xfrm><a:prstGeom prst="rect"><a:avLst></a:avLst></a:prstGeom><a:noFill/><a:ln></a:ln></p:spPr><p:txBody><a:bodyPr wrap="square" lIns="0" tIns="0" rIns="0" bIns="0" rtlCol="0" anchor="t"></a:bodyPr><a:lstStyle/><a:p><a:pPr algn="l" marL="342900" indent="-342900"><a:lnSpc><a:spcPts val="2700"/></a:lnSpc><a:buSzPct val="100000"/><a:buChar char="&#x2022;"/></a:pPr><a:r><a:rPr lang="en-US" sz="1700" dirty="0"><a:solidFill><a:srgbClr val="272525"/></a:solidFill><a:latin typeface="Montserrat" pitchFamily="34" charset="0"/><a:ea typeface="Montserrat" pitchFamily="34" charset="-122"/><a:cs typeface="Montserrat" pitchFamily="34" charset="-120"/></a:rPr><a:t>Tonmoy Hossain, Fairuz Shadmani Shishir, Mohsena Ashraf MD Abdullah Al Nasim, Faisal Muhammad Shah,2019.[Brain Tumor Detection Using Convolutional Neural Network],[2019 1st International Conference on Advances in Science, Engineering and Robotics Technology (ICASERT)].</a:t></a:r><a:endParaRPr lang="en-US" sz="1700" dirty="0"/></a:p></p:txBody></p:sp><p:sp><p:nvSpPr><p:cNvPr id="4" name="Text 2"></p:cNvPr><p:cNvSpPr/><p:nvPr></p:nvPr></p:nvSpPr><p:spPr><a:xfrm><a:off x="758309" y="3979307"/><a:ext cx="13113782" cy="693420"/></a:xfrm><a:prstGeom prst="rect"><a:avLst></a:avLst></a:prstGeom><a:noFill/><a:ln></a:ln></p:spPr><p:txBody><a:bodyPr wrap="square" lIns="0" tIns="0" rIns="0" bIns="0" rtlCol="0" anchor="t"></a:bodyPr><a:lstStyle/><a:p><a:pPr algn="l" marL="342900" indent="-342900"><a:lnSpc><a:spcPts val="2700"/></a:lnSpc><a:buSzPct val="100000"/><a:buChar char="&#x2022;"/></a:pPr><a:r><a:rPr lang="en-US" sz="1700" dirty="0"><a:solidFill><a:srgbClr val="272525"/></a:solidFill><a:latin typeface="Montserrat" pitchFamily="34" charset="0"/><a:ea typeface="Montserrat" pitchFamily="34" charset="-122"/><a:cs typeface="Montserrat" pitchFamily="34" charset="-120"/></a:rPr><a:t> Rohini Paul Joseph, C. Senthil Singh, M.Manikandan.2014. [BRAIN TUMOR MRI IMAGE SEGMENTATION AND DETECTION IN IMAGE PROCESSING], [International Journal of Research in Engineering and Technology]. </a:t></a:r><a:endParaRPr lang="en-US" sz="1700" dirty="0"/></a:p></p:txBody></p:sp><p:sp><p:nvSpPr><p:cNvPr id="5" name="Text 3"></p:cNvPr><p:cNvSpPr/><p:nvPr></p:nvPr></p:nvSpPr><p:spPr><a:xfrm><a:off x="758309" y="4748451"/><a:ext cx="13113782" cy="693420"/></a:xfrm><a:prstGeom prst="rect"><a:avLst></a:avLst></a:prstGeom><a:noFill/><a:ln></a:ln></p:spPr><p:txBody><a:bodyPr wrap="square" lIns="0" tIns="0" rIns="0" bIns="0" rtlCol="0" anchor="t"></a:bodyPr><a:lstStyle/><a:p><a:pPr algn="l" marL="342900" indent="-342900"><a:lnSpc><a:spcPts val="2700"/></a:lnSpc><a:buSzPct val="100000"/><a:buChar char="&#x2022;"/></a:pPr><a:r><a:rPr lang="en-US" sz="1700" dirty="0"><a:solidFill><a:srgbClr val="272525"/></a:solidFill><a:latin typeface="Montserrat" pitchFamily="34" charset="0"/><a:ea typeface="Montserrat" pitchFamily="34" charset="-122"/><a:cs typeface="Montserrat" pitchFamily="34" charset="-120"/></a:rPr><a:t>Swapnil R. Telrandhe, Amit Pimpalkar, Ankita Kendhe, 2016. [Detection of Brain Tumor from MRI images by using Segmentation &amp;SVM], [2016 World Conference on Futuristic Trends in Research and Innovation for Social Welfare].</a:t></a:r><a:endParaRPr lang="en-US" sz="1700" dirty="0"/></a:p></p:txBody></p:sp><p:sp><p:nvSpPr><p:cNvPr id="6" name="Text 4"></p:cNvPr><p:cNvSpPr/><p:nvPr></p:nvPr></p:nvSpPr><p:spPr><a:xfrm><a:off x="758309" y="5517594"/><a:ext cx="13113782" cy="693420"/></a:xfrm><a:prstGeom prst="rect"><a:avLst></a:avLst></a:prstGeom><a:noFill/><a:ln></a:ln></p:spPr><p:txBody><a:bodyPr wrap="square" lIns="0" tIns="0" rIns="0" bIns="0" rtlCol="0" anchor="t"></a:bodyPr><a:lstStyle/><a:p><a:pPr algn="l" marL="342900" indent="-342900"><a:lnSpc><a:spcPts val="2700"/></a:lnSpc><a:buSzPct val="100000"/><a:buChar char="&#x2022;"/></a:pPr><a:r><a:rPr lang="en-US" sz="1700" dirty="0"><a:solidFill><a:srgbClr val="272525"/></a:solidFill><a:latin typeface="Montserrat" pitchFamily="34" charset="0"/><a:ea typeface="Montserrat" pitchFamily="34" charset="-122"/><a:cs typeface="Montserrat" pitchFamily="34" charset="-120"/></a:rPr><a:t>A Çinar, M Yildirim, 2020. [Detection of tumors on brain MRI images using the hybrid convolutional neural network architecture] [Medical hypotheses].</a:t></a:r><a:endParaRPr lang="en-US" sz="1700" dirty="0"/></a:p></p:txBody></p:sp></p:spTree></p:cSld><p:clrMapOvr><a:masterClrMapping/></p:clrMapOvr></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7207568" y="3758446"/>
            <a:ext cx="5701546" cy="712708"/>
          </a:xfrm>
          <a:prstGeom prst="rect">
            <a:avLst/>
          </a:prstGeom>
          <a:noFill/>
          <a:ln/>
        </p:spPr>
        <p:txBody>
          <a:bodyPr wrap="none" lIns="0" tIns="0" rIns="0" bIns="0" rtlCol="0" anchor="t"/>
          <a:lstStyle/>
          <a:p>
            <a:pPr algn="ct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Thank You</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2025-04-06T15:23:29Z</dcterms:created>
  <dcterms:modified xsi:type="dcterms:W3CDTF">2025-04-06T15:23:29Z</dcterms:modified>
</cp:coreProperties>
</file>